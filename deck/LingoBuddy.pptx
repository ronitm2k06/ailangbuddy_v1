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one-liner: LingoBuddy helps newcomers survive their first week in a new city — not by teaching a language, but by teaching how to live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 around real moments: transport, food, shopping, directions, college.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positioning line — say it word for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I'm New Here → Delhi → Hindi / Hinglish → Build My Survival Pack. Delhi is fully built; the architecture supports 10 languages and more 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Listen, then Practice — the feedback shows which words were good and which need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scenarios. Replies come from Groq (gpt-oss-120b); if the API is unavailable a scripted engine takes over seamlessly, so the demo never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open Confidence → read the AI insight → Practice Now → small talk with Priya. Watch the Small Talk bar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Mention: voice input and text-to-speech use browser APIs, with text fallback when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Adding a city or language = adding content to content.js; the engine is language-agnostic.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positioning line, then switch to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4D6D"/>
                </a:solidFill>
                <a:latin typeface="Arial"/>
              </a:rPr>
              <a:t>● 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LingoBuddy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New city.</a:t>
            </a:r>
          </a:p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New language.</a:t>
            </a:r>
          </a:p>
          <a:p>
            <a:pPr algn="l"/>
            <a:r>
              <a:rPr sz="4800" b="1" i="0">
                <a:solidFill>
                  <a:srgbClr val="B4A7FF"/>
                </a:solidFill>
                <a:latin typeface="Arial"/>
              </a:rPr>
              <a:t>No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9CAE0"/>
                </a:solidFill>
                <a:latin typeface="Calibri"/>
              </a:rPr>
              <a:t>Your AI-powered local language buddy for navigating everyday life in a new 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8EA6"/>
                </a:solidFill>
                <a:latin typeface="Calibri"/>
              </a:rPr>
              <a:t>TCS Tech Day Hackathon  ·  Live demo: localhost:8000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298448"/>
            <a:ext cx="5358384" cy="3508936"/>
          </a:xfrm>
          <a:prstGeom prst="roundRect">
            <a:avLst>
              <a:gd name="adj" fmla="val 4690"/>
            </a:avLst>
          </a:prstGeom>
          <a:solidFill>
            <a:srgbClr val="1C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hom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212080" cy="3362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4BFF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E1020"/>
                </a:solidFill>
                <a:latin typeface="Arial"/>
              </a:rPr>
              <a:t>Newcomers can't talk to their new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A4E66"/>
                </a:solidFill>
                <a:latin typeface="Calibri"/>
              </a:rPr>
              <a:t>Students and professionals relocating within India land in a place where the everyday language, phrases and etiquette are new.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429000" cy="3108960"/>
          </a:xfrm>
          <a:prstGeom prst="roundRect">
            <a:avLst>
              <a:gd name="adj" fmla="val 5882"/>
            </a:avLst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60119" y="2971800"/>
            <a:ext cx="640080" cy="640080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384048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020"/>
                </a:solidFill>
                <a:latin typeface="Arial"/>
              </a:rPr>
              <a:t>Everyday tasks become stressful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461772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4E66"/>
                </a:solidFill>
                <a:latin typeface="Calibri"/>
              </a:rPr>
              <a:t>Hailing an auto, ordering lunch or asking directions turns into guesswork and gestures.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651760"/>
            <a:ext cx="3429000" cy="3108960"/>
          </a:xfrm>
          <a:prstGeom prst="roundRect">
            <a:avLst>
              <a:gd name="adj" fmla="val 5882"/>
            </a:avLst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63440" y="2971800"/>
            <a:ext cx="640080" cy="640080"/>
          </a:xfrm>
          <a:prstGeom prst="ellipse">
            <a:avLst/>
          </a:prstGeom>
          <a:solidFill>
            <a:srgbClr val="5B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84048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020"/>
                </a:solidFill>
                <a:latin typeface="Arial"/>
              </a:rPr>
              <a:t>Textbook language doesn't match the street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61772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4E66"/>
                </a:solidFill>
                <a:latin typeface="Calibri"/>
              </a:rPr>
              <a:t>Apps teach “Where is the library?”. Delhi says “Bhaiya, Connaught Place chaloge?”.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651760"/>
            <a:ext cx="3429000" cy="3108960"/>
          </a:xfrm>
          <a:prstGeom prst="roundRect">
            <a:avLst>
              <a:gd name="adj" fmla="val 5882"/>
            </a:avLst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366759" y="29718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84048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020"/>
                </a:solidFill>
                <a:latin typeface="Arial"/>
              </a:rPr>
              <a:t>No way to rehearse real situations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461772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4E66"/>
                </a:solidFill>
                <a:latin typeface="Calibri"/>
              </a:rPr>
              <a:t>You only practise when it matters — with a driver waiting and a meter running.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4BFF"/>
                </a:solidFill>
                <a:latin typeface="Arial"/>
              </a:rPr>
              <a:t>OUR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E1020"/>
                </a:solidFill>
                <a:latin typeface="Arial"/>
              </a:rPr>
              <a:t>Newcomers don't need a language course. They need survival skills.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5303520" cy="3977639"/>
          </a:xfrm>
          <a:prstGeom prst="roundRect">
            <a:avLst>
              <a:gd name="adj" fmla="val 4597"/>
            </a:avLst>
          </a:prstGeom>
          <a:solidFill>
            <a:srgbClr val="FFFFFF"/>
          </a:solidFill>
          <a:ln w="12700">
            <a:solidFill>
              <a:srgbClr val="E7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8EA6"/>
                </a:solidFill>
                <a:latin typeface="Arial"/>
              </a:rPr>
              <a:t>TRADITIONAL LANGUAGE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8A8EA6"/>
                </a:solidFill>
                <a:latin typeface="Arial"/>
              </a:rPr>
              <a:t>Teach you a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A4E66"/>
                </a:solidFill>
                <a:latin typeface="Calibri"/>
              </a:rPr>
              <a:t>Generic vocabulary and grammar drills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A4E66"/>
                </a:solidFill>
                <a:latin typeface="Calibri"/>
              </a:rPr>
              <a:t>Progress measured in XP and streaks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A4E66"/>
                </a:solidFill>
                <a:latin typeface="Calibri"/>
              </a:rPr>
              <a:t>Same content for every city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A4E66"/>
                </a:solidFill>
                <a:latin typeface="Calibri"/>
              </a:rPr>
              <a:t>Practice happens in a vacuum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240280"/>
            <a:ext cx="5303520" cy="3977639"/>
          </a:xfrm>
          <a:prstGeom prst="roundRect">
            <a:avLst>
              <a:gd name="adj" fmla="val 4597"/>
            </a:avLst>
          </a:prstGeom>
          <a:solidFill>
            <a:srgbClr val="0E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29400" y="2560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A7FF"/>
                </a:solidFill>
                <a:latin typeface="Arial"/>
              </a:rPr>
              <a:t>LINGOBUDDY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9260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Teaches you to live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0332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9CAE0"/>
                </a:solidFill>
                <a:latin typeface="Calibri"/>
              </a:rPr>
              <a:t>Phrases locals actually use, by situation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9CAE0"/>
                </a:solidFill>
                <a:latin typeface="Calibri"/>
              </a:rPr>
              <a:t>Progress measured in Local Confidence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9CAE0"/>
                </a:solidFill>
                <a:latin typeface="Calibri"/>
              </a:rPr>
              <a:t>City-specific: Delhi's metro, autos, markets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9CAE0"/>
                </a:solidFill>
                <a:latin typeface="Calibri"/>
              </a:rPr>
              <a:t>Rehearse with AI locals before the real thing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4BFF"/>
                </a:solidFill>
                <a:latin typeface="Arial"/>
              </a:rPr>
              <a:t>HERO FEATURE 1  ·  “I'M NEW HERE”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E1020"/>
                </a:solidFill>
                <a:latin typeface="Arial"/>
              </a:rPr>
              <a:t>A first-week survival pack for your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A4E66"/>
                </a:solidFill>
                <a:latin typeface="Calibri"/>
              </a:rPr>
              <a:t>Pick a city and a language. LingoBuddy builds a 7-day plan around the situations you'll actually face.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017520"/>
            <a:ext cx="347472" cy="347472"/>
          </a:xfrm>
          <a:prstGeom prst="ellipse">
            <a:avLst/>
          </a:prstGeom>
          <a:solidFill>
            <a:srgbClr val="14B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35808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8EA6"/>
                </a:solidFill>
                <a:latin typeface="Calibri"/>
              </a:rPr>
              <a:t>Day 1  </a:t>
            </a:r>
            <a:r>
              <a:rPr sz="1500" b="1" i="0">
                <a:solidFill>
                  <a:srgbClr val="0E1020"/>
                </a:solidFill>
                <a:latin typeface="Calibri"/>
              </a:rPr>
              <a:t>Greetings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93008"/>
            <a:ext cx="347472" cy="347472"/>
          </a:xfrm>
          <a:prstGeom prst="ellipse">
            <a:avLst/>
          </a:prstGeom>
          <a:solidFill>
            <a:srgbClr val="14B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11296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8EA6"/>
                </a:solidFill>
                <a:latin typeface="Calibri"/>
              </a:rPr>
              <a:t>Day 2  </a:t>
            </a:r>
            <a:r>
              <a:rPr sz="1500" b="1" i="0">
                <a:solidFill>
                  <a:srgbClr val="0E1020"/>
                </a:solidFill>
                <a:latin typeface="Calibri"/>
              </a:rPr>
              <a:t>Transport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968496"/>
            <a:ext cx="347472" cy="347472"/>
          </a:xfrm>
          <a:prstGeom prst="ellipse">
            <a:avLst/>
          </a:prstGeom>
          <a:solidFill>
            <a:srgbClr val="14B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86783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8EA6"/>
                </a:solidFill>
                <a:latin typeface="Calibri"/>
              </a:rPr>
              <a:t>Day 3  </a:t>
            </a:r>
            <a:r>
              <a:rPr sz="1500" b="1" i="0">
                <a:solidFill>
                  <a:srgbClr val="0E1020"/>
                </a:solidFill>
                <a:latin typeface="Calibri"/>
              </a:rPr>
              <a:t>Food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43983"/>
            <a:ext cx="347472" cy="347472"/>
          </a:xfrm>
          <a:prstGeom prst="ellipse">
            <a:avLst/>
          </a:prstGeom>
          <a:solidFill>
            <a:srgbClr val="5B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462271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8EA6"/>
                </a:solidFill>
                <a:latin typeface="Calibri"/>
              </a:rPr>
              <a:t>Day 4  </a:t>
            </a:r>
            <a:r>
              <a:rPr sz="1500" b="1" i="0">
                <a:solidFill>
                  <a:srgbClr val="0E1020"/>
                </a:solidFill>
                <a:latin typeface="Calibri"/>
              </a:rPr>
              <a:t>Shopping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919472"/>
            <a:ext cx="347472" cy="347472"/>
          </a:xfrm>
          <a:prstGeom prst="ellipse">
            <a:avLst/>
          </a:prstGeom>
          <a:solidFill>
            <a:srgbClr val="E7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4A4E66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37759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8EA6"/>
                </a:solidFill>
                <a:latin typeface="Calibri"/>
              </a:rPr>
              <a:t>Day 5  </a:t>
            </a:r>
            <a:r>
              <a:rPr sz="1500" b="1" i="0">
                <a:solidFill>
                  <a:srgbClr val="0E1020"/>
                </a:solidFill>
                <a:latin typeface="Calibri"/>
              </a:rPr>
              <a:t>Directions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394960"/>
            <a:ext cx="347472" cy="347472"/>
          </a:xfrm>
          <a:prstGeom prst="ellipse">
            <a:avLst/>
          </a:prstGeom>
          <a:solidFill>
            <a:srgbClr val="E7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4A4E66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413248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8EA6"/>
                </a:solidFill>
                <a:latin typeface="Calibri"/>
              </a:rPr>
              <a:t>Day 6  </a:t>
            </a:r>
            <a:r>
              <a:rPr sz="1500" b="1" i="0">
                <a:solidFill>
                  <a:srgbClr val="0E1020"/>
                </a:solidFill>
                <a:latin typeface="Calibri"/>
              </a:rPr>
              <a:t>College &amp; Work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870448"/>
            <a:ext cx="347472" cy="347472"/>
          </a:xfrm>
          <a:prstGeom prst="ellipse">
            <a:avLst/>
          </a:prstGeom>
          <a:solidFill>
            <a:srgbClr val="E7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4A4E66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888736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8EA6"/>
                </a:solidFill>
                <a:latin typeface="Calibri"/>
              </a:rPr>
              <a:t>Day 7  </a:t>
            </a:r>
            <a:r>
              <a:rPr sz="1500" b="1" i="0">
                <a:solidFill>
                  <a:srgbClr val="0E1020"/>
                </a:solidFill>
                <a:latin typeface="Calibri"/>
              </a:rPr>
              <a:t>Real Conversation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7568" y="841248"/>
            <a:ext cx="5907024" cy="4547533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E7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pack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14400"/>
            <a:ext cx="5760720" cy="44012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841248"/>
            <a:ext cx="5907024" cy="4547533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E7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ess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5760720" cy="44012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4BFF"/>
                </a:solidFill>
                <a:latin typeface="Arial"/>
              </a:rPr>
              <a:t>DAILY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86868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E1020"/>
                </a:solidFill>
                <a:latin typeface="Arial"/>
              </a:rPr>
              <a:t>Real phrases, real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A4E66"/>
                </a:solidFill>
                <a:latin typeface="Calibri"/>
              </a:rPr>
              <a:t>Day 2 · Transport: “You need to get to Connaught Place.”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606040"/>
            <a:ext cx="466344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 w="12700">
            <a:solidFill>
              <a:srgbClr val="E7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0" y="27706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1020"/>
                </a:solidFill>
                <a:latin typeface="Nirmala UI"/>
              </a:rPr>
              <a:t>भैया, कनॉट प्लेस चलोगे?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2461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4BFF"/>
                </a:solidFill>
                <a:latin typeface="Calibri"/>
              </a:rPr>
              <a:t>Bhaiya, Connaught Place chaloge?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5935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EA6"/>
                </a:solidFill>
                <a:latin typeface="Calibri"/>
              </a:rPr>
              <a:t>“Could you take me to Connaught Place?”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97680"/>
            <a:ext cx="4663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Devanagari + pronunciation + </a:t>
            </a:r>
            <a:r>
              <a:rPr sz="1400" b="1" i="0">
                <a:solidFill>
                  <a:srgbClr val="4A4E66"/>
                </a:solidFill>
                <a:latin typeface="Calibri"/>
              </a:rPr>
              <a:t>natural meaning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A4E66"/>
                </a:solidFill>
                <a:latin typeface="Calibri"/>
              </a:rPr>
              <a:t>Listen</a:t>
            </a:r>
            <a:r>
              <a:rPr sz="1400" b="0" i="0">
                <a:solidFill>
                  <a:srgbClr val="4A4E66"/>
                </a:solidFill>
                <a:latin typeface="Calibri"/>
              </a:rPr>
              <a:t> at normal or slow speed (browser text-to-speech)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A4E66"/>
                </a:solidFill>
                <a:latin typeface="Calibri"/>
              </a:rPr>
              <a:t>Practice</a:t>
            </a:r>
            <a:r>
              <a:rPr sz="1400" b="0" i="0">
                <a:solidFill>
                  <a:srgbClr val="4A4E66"/>
                </a:solidFill>
                <a:latin typeface="Calibri"/>
              </a:rPr>
              <a:t> with speech recognition and word-level feedback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A4E66"/>
                </a:solidFill>
                <a:latin typeface="Calibri"/>
              </a:rPr>
              <a:t>Local tips</a:t>
            </a:r>
            <a:r>
              <a:rPr sz="1400" b="0" i="0">
                <a:solidFill>
                  <a:srgbClr val="4A4E66"/>
                </a:solidFill>
                <a:latin typeface="Calibri"/>
              </a:rPr>
              <a:t>, e.g. why you call drivers “bhaiya”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4BFF"/>
                </a:solidFill>
                <a:latin typeface="Arial"/>
              </a:rPr>
              <a:t>AI ROLEPLAY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E1020"/>
                </a:solidFill>
                <a:latin typeface="Arial"/>
              </a:rPr>
              <a:t>Rehearse with AI locals before the real thing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EE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25856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020"/>
                </a:solidFill>
                <a:latin typeface="Arial"/>
              </a:rPr>
              <a:t>Raju bhaiya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EA6"/>
                </a:solidFill>
                <a:latin typeface="Calibri"/>
              </a:rPr>
              <a:t>Auto driver · negotiate a fare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53512"/>
            <a:ext cx="502920" cy="502920"/>
          </a:xfrm>
          <a:prstGeom prst="ellipse">
            <a:avLst/>
          </a:prstGeom>
          <a:solidFill>
            <a:srgbClr val="EE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9718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020"/>
                </a:solidFill>
                <a:latin typeface="Arial"/>
              </a:rPr>
              <a:t>Priya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278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EA6"/>
                </a:solidFill>
                <a:latin typeface="Calibri"/>
              </a:rPr>
              <a:t>Classmate · chai small talk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66744"/>
            <a:ext cx="502920" cy="502920"/>
          </a:xfrm>
          <a:prstGeom prst="ellipse">
            <a:avLst/>
          </a:prstGeom>
          <a:solidFill>
            <a:srgbClr val="EE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685031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020"/>
                </a:solidFill>
                <a:latin typeface="Arial"/>
              </a:rPr>
              <a:t>Sethi 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3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EA6"/>
                </a:solidFill>
                <a:latin typeface="Calibri"/>
              </a:rPr>
              <a:t>Street food stall · order lunch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379976"/>
            <a:ext cx="502920" cy="502920"/>
          </a:xfrm>
          <a:prstGeom prst="ellipse">
            <a:avLst/>
          </a:prstGeom>
          <a:solidFill>
            <a:srgbClr val="EE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39826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020"/>
                </a:solidFill>
                <a:latin typeface="Arial"/>
              </a:rPr>
              <a:t>Vicky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5429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EA6"/>
                </a:solidFill>
                <a:latin typeface="Calibri"/>
              </a:rPr>
              <a:t>Sarojini market · bargain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57800"/>
            <a:ext cx="4663440" cy="914400"/>
          </a:xfrm>
          <a:prstGeom prst="roundRect">
            <a:avLst>
              <a:gd name="adj" fmla="val 16000"/>
            </a:avLst>
          </a:prstGeom>
          <a:solidFill>
            <a:srgbClr val="EE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5376672"/>
            <a:ext cx="4297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4E66"/>
                </a:solidFill>
                <a:latin typeface="Calibri"/>
              </a:rPr>
              <a:t>Live LLM replies stay in character and coach you after every message. Suggested replies keep beginners moving.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87568" y="841248"/>
            <a:ext cx="5907024" cy="4547533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E7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rp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14400"/>
            <a:ext cx="5760720" cy="44012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A7FF"/>
                </a:solidFill>
                <a:latin typeface="Arial"/>
              </a:rPr>
              <a:t>HERO FEATURE 2  ·  LOCAL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We measure readiness, not XP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78%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3C2"/>
                </a:solidFill>
                <a:latin typeface="Arial"/>
              </a:rPr>
              <a:t>READY TO EXPLORE DELHI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C9CAE0"/>
                </a:solidFill>
                <a:latin typeface="Calibri"/>
              </a:rPr>
              <a:t>Confidence per real-life situation: greetings, transport, food, shopping, directions, college, small talk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C9CAE0"/>
                </a:solidFill>
                <a:latin typeface="Calibri"/>
              </a:rPr>
              <a:t>Weighted by how often you'll need each one in week one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C9CAE0"/>
                </a:solidFill>
                <a:latin typeface="Calibri"/>
              </a:rPr>
              <a:t>Rises as you practise phrases and finish conversations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C9CAE0"/>
                </a:solidFill>
                <a:latin typeface="Calibri"/>
              </a:rPr>
              <a:t>AI insight + “Recommended next” turn weak spots into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87568" y="841248"/>
            <a:ext cx="5907024" cy="4547533"/>
          </a:xfrm>
          <a:prstGeom prst="roundRect">
            <a:avLst>
              <a:gd name="adj" fmla="val 3619"/>
            </a:avLst>
          </a:prstGeom>
          <a:solidFill>
            <a:srgbClr val="1C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nfidenc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14400"/>
            <a:ext cx="5760720" cy="44012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4BFF"/>
                </a:solidFill>
                <a:latin typeface="Arial"/>
              </a:rPr>
              <a:t>A COMPLETE LEARNING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E1020"/>
                </a:solidFill>
                <a:latin typeface="Arial"/>
              </a:rPr>
              <a:t>Everything a newcomer needs, in one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29000" cy="1965960"/>
          </a:xfrm>
          <a:prstGeom prst="roundRect">
            <a:avLst>
              <a:gd name="adj" fmla="val 9302"/>
            </a:avLst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042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1020"/>
                </a:solidFill>
                <a:latin typeface="Arial"/>
              </a:rPr>
              <a:t>AI Tutor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A4E66"/>
                </a:solidFill>
                <a:latin typeface="Calibri"/>
              </a:rPr>
              <a:t>Describe a situation, get the exact words. Remembers the conversation.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1965960"/>
          </a:xfrm>
          <a:prstGeom prst="roundRect">
            <a:avLst>
              <a:gd name="adj" fmla="val 9302"/>
            </a:avLst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617720" y="21945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042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1020"/>
                </a:solidFill>
                <a:latin typeface="Arial"/>
              </a:rPr>
              <a:t>Flashcards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07792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A4E66"/>
                </a:solidFill>
                <a:latin typeface="Calibri"/>
              </a:rPr>
              <a:t>Spaced repetition (SM-2 style) built from your survival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429000" cy="1965960"/>
          </a:xfrm>
          <a:prstGeom prst="roundRect">
            <a:avLst>
              <a:gd name="adj" fmla="val 9302"/>
            </a:avLst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21040" y="21945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3042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1020"/>
                </a:solidFill>
                <a:latin typeface="Arial"/>
              </a:rPr>
              <a:t>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07792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A4E66"/>
                </a:solidFill>
                <a:latin typeface="Calibri"/>
              </a:rPr>
              <a:t>Beginner Delhi stories with translations and comprehension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3429000" cy="1965960"/>
          </a:xfrm>
          <a:prstGeom prst="roundRect">
            <a:avLst>
              <a:gd name="adj" fmla="val 9302"/>
            </a:avLst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445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1020"/>
                </a:solidFill>
                <a:latin typeface="Arial"/>
              </a:rPr>
              <a:t>Listening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48072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A4E66"/>
                </a:solidFill>
                <a:latin typeface="Calibri"/>
              </a:rPr>
              <a:t>Hear a phrase, pick its meaning. Slow mode for beginners.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160520"/>
            <a:ext cx="3429000" cy="1965960"/>
          </a:xfrm>
          <a:prstGeom prst="roundRect">
            <a:avLst>
              <a:gd name="adj" fmla="val 9302"/>
            </a:avLst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617720" y="44348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5445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1020"/>
                </a:solidFill>
                <a:latin typeface="Arial"/>
              </a:rPr>
              <a:t>CEFR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148072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A4E66"/>
                </a:solidFill>
                <a:latin typeface="Calibri"/>
              </a:rPr>
              <a:t>5-question level check, A1 → C2 structure.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160520"/>
            <a:ext cx="3429000" cy="1965960"/>
          </a:xfrm>
          <a:prstGeom prst="roundRect">
            <a:avLst>
              <a:gd name="adj" fmla="val 9302"/>
            </a:avLst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0" y="44348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020"/>
                </a:solidFill>
                <a:latin typeface="Arial"/>
              </a:rP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5445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1020"/>
                </a:solidFill>
                <a:latin typeface="Arial"/>
              </a:rPr>
              <a:t>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48072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A4E66"/>
                </a:solidFill>
                <a:latin typeface="Calibri"/>
              </a:rPr>
              <a:t>Weekly goal, streak, skills, XP and achievements.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4BFF"/>
                </a:solidFill>
                <a:latin typeface="Arial"/>
              </a:rPr>
              <a:t>HOW IT'S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E1020"/>
                </a:solidFill>
                <a:latin typeface="Arial"/>
              </a:rPr>
              <a:t>Simple, fast, and it never breaks in a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29000" cy="283464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7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5B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591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1020"/>
                </a:solidFill>
                <a:latin typeface="Arial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Single-page app · HTML/CSS/JS, no build step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React Bits components ported to vanilla JS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Web Speech API: TTS + speech recognition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33087" y="3246120"/>
            <a:ext cx="256032" cy="320040"/>
          </a:xfrm>
          <a:prstGeom prst="rightArrow">
            <a:avLst/>
          </a:prstGeom>
          <a:solidFill>
            <a:srgbClr val="8A8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429000" cy="283464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7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09160" y="22860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3591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1020"/>
                </a:solidFill>
                <a:latin typeface="Arial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06324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FastAPI (Python)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SQLite persistence for learner state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/api/ai proxy + /api/state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27848" y="3246120"/>
            <a:ext cx="256032" cy="320040"/>
          </a:xfrm>
          <a:prstGeom prst="rightArrow">
            <a:avLst/>
          </a:prstGeom>
          <a:solidFill>
            <a:srgbClr val="8A8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429000" cy="283464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7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503920" y="2286000"/>
            <a:ext cx="502920" cy="502920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3591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1020"/>
                </a:solidFill>
                <a:latin typeface="Arial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06324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Groq · openai/gpt-oss-120b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Also supports Claude, OpenAI, Ollama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A4E66"/>
                </a:solidFill>
                <a:latin typeface="Calibri"/>
              </a:rPr>
              <a:t>Offline engine as automatic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10927080" cy="960120"/>
          </a:xfrm>
          <a:prstGeom prst="roundRect">
            <a:avLst>
              <a:gd name="adj" fmla="val 17142"/>
            </a:avLst>
          </a:prstGeom>
          <a:solidFill>
            <a:srgbClr val="0E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5212080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Reliability by design: </a:t>
            </a:r>
            <a:r>
              <a:rPr sz="1500" b="0" i="0">
                <a:solidFill>
                  <a:srgbClr val="C9CAE0"/>
                </a:solidFill>
                <a:latin typeface="Calibri"/>
              </a:rPr>
              <a:t>no signup, a pre-loaded demo learner, curated phrases for known situations, and a scripted AI fallback, so judges never see an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4A7FF"/>
                </a:solidFill>
                <a:latin typeface="Arial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From Delhi to every city a student moves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29000" cy="2377440"/>
          </a:xfrm>
          <a:prstGeom prst="roundRect">
            <a:avLst>
              <a:gd name="adj" fmla="val 7692"/>
            </a:avLst>
          </a:prstGeom>
          <a:solidFill>
            <a:srgbClr val="1C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19" y="2286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4A7FF"/>
                </a:solidFill>
                <a:latin typeface="Arial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288036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CAE0"/>
                </a:solidFill>
                <a:latin typeface="Calibri"/>
              </a:rPr>
              <a:t>Delhi · Hindi / Hinglish</a:t>
            </a:r>
          </a:p>
          <a:p>
            <a:pPr algn="l"/>
            <a:r>
              <a:rPr sz="1400" b="0" i="0">
                <a:solidFill>
                  <a:srgbClr val="C9CAE0"/>
                </a:solidFill>
                <a:latin typeface="Calibri"/>
              </a:rPr>
              <a:t>7-day pack, 7 AI roleplays,</a:t>
            </a:r>
          </a:p>
          <a:p>
            <a:pPr algn="l"/>
            <a:r>
              <a:rPr sz="1400" b="0" i="0">
                <a:solidFill>
                  <a:srgbClr val="C9CAE0"/>
                </a:solidFill>
                <a:latin typeface="Calibri"/>
              </a:rPr>
              <a:t>Local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29000" cy="2377440"/>
          </a:xfrm>
          <a:prstGeom prst="roundRect">
            <a:avLst>
              <a:gd name="adj" fmla="val 7692"/>
            </a:avLst>
          </a:prstGeom>
          <a:solidFill>
            <a:srgbClr val="1C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8036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CAE0"/>
                </a:solidFill>
                <a:latin typeface="Calibri"/>
              </a:rPr>
              <a:t>Mumbai, Bengaluru, Hyderabad,</a:t>
            </a:r>
          </a:p>
          <a:p>
            <a:pPr algn="l"/>
            <a:r>
              <a:rPr sz="1400" b="0" i="0">
                <a:solidFill>
                  <a:srgbClr val="C9CAE0"/>
                </a:solidFill>
                <a:latin typeface="Calibri"/>
              </a:rPr>
              <a:t>Chennai with Marathi, Kannada,</a:t>
            </a:r>
          </a:p>
          <a:p>
            <a:pPr algn="l"/>
            <a:r>
              <a:rPr sz="1400" b="0" i="0">
                <a:solidFill>
                  <a:srgbClr val="C9CAE0"/>
                </a:solidFill>
                <a:latin typeface="Calibri"/>
              </a:rPr>
              <a:t>Telugu and Tamil packs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2011680"/>
            <a:ext cx="3429000" cy="2377440"/>
          </a:xfrm>
          <a:prstGeom prst="roundRect">
            <a:avLst>
              <a:gd name="adj" fmla="val 7692"/>
            </a:avLst>
          </a:prstGeom>
          <a:solidFill>
            <a:srgbClr val="1C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66759" y="2286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88036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CAE0"/>
                </a:solidFill>
                <a:latin typeface="Calibri"/>
              </a:rPr>
              <a:t>Server-side pronunciation scoring,</a:t>
            </a:r>
          </a:p>
          <a:p>
            <a:pPr algn="l"/>
            <a:r>
              <a:rPr sz="1400" b="0" i="0">
                <a:solidFill>
                  <a:srgbClr val="C9CAE0"/>
                </a:solidFill>
                <a:latin typeface="Calibri"/>
              </a:rPr>
              <a:t>campus partnerships, peer</a:t>
            </a:r>
          </a:p>
          <a:p>
            <a:pPr algn="l"/>
            <a:r>
              <a:rPr sz="1400" b="0" i="0">
                <a:solidFill>
                  <a:srgbClr val="C9CAE0"/>
                </a:solidFill>
                <a:latin typeface="Calibri"/>
              </a:rPr>
              <a:t>buddies who are real locals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8A8EA6"/>
                </a:solidFill>
                <a:latin typeface="Arial"/>
              </a:rPr>
              <a:t>Traditional language apps teach you a language. </a:t>
            </a:r>
            <a:r>
              <a:rPr sz="2200" b="1" i="0">
                <a:solidFill>
                  <a:srgbClr val="FFFFFF"/>
                </a:solidFill>
                <a:latin typeface="Arial"/>
              </a:rPr>
              <a:t>LingoBuddy teaches you how to live in a new place.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EA6"/>
                </a:solidFill>
                <a:latin typeface="Calibri"/>
              </a:rPr>
              <a:t>Thank you  ·  Live demo at 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